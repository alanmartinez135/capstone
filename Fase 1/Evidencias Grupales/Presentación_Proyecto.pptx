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45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424160" y="4023360"/>
            <a:ext cx="3840480" cy="3840480"/>
          </a:xfrm>
          <a:prstGeom prst="ellipse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ASIGNATURA CAPSTONE (PTY4614)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“Grupos de Estudio”
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Colaborativa para el Aprendizaje de Inglés entre Pares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1 · Informe de Definición del Proyecto APT — Fase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29260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502920" y="49377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Javiera Paz Acuña Carrasco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Desarrolladora Frontend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Benjamín Martínez Aguayo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Desarrollador Backend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Sede San Joaquín · Duoc UC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IMPACTO · FUNDAMENTACIÓN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da origen al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de primer año de Duoc UC no cuentan con un canal formal para practicar inglés fuera del aula junto a sus propios compañeros de curso, lo que limita la formación de redes de apoyo académico reales y sostenidas en el tiempo.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350215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insuficientes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4340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Duolingo, Busuu o Tandem no permiten practicar específicamente con los propios compañeros de curso.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880360"/>
            <a:ext cx="350215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617720" y="3154680"/>
            <a:ext cx="502920" cy="502920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46177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840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curricular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34340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nueva malla elimina Inglés Básico 1 y 2, por lo que los alumnos deben reforzar estos conocimientos por cuenta propia.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2880360"/>
            <a:ext cx="350215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45820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840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Heterogeneidad de nivel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34340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alta diversidad en el dominio del idioma dificulta la organización espontánea de grupos de estudio entre pares.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IMPACTO · RELEVANCIA Y ALCANCE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 quiénes impacta y por qué es relevante?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OBJETIVO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de ingreso a Duoc UC (18–22 años) que cursan Inglés, recién integrados a la vida universitaria y sin redes de estudio consolidadas. El contexto se caracteriza por una alta heterogeneidad de nivel y una carga académica que dificulta la coordinación espontánea de grupos.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063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PARA EL CAMPO LABORAL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33756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de forma integral competencias de la industria: metodologías ágiles para el ciclo de vida del software, desarrollo full-stack y modelamiento de datos, siguiendo el mismo camino que un ingeniero recorre en la práctica profesional — de la necesidad real al valor entregado en iteraciones.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617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DE VALOR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8920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Estudiantes: </a:t>
            </a: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autodidacta y colaborativo mediante autoevaluación, grupos por nivel y encuentros presenciales.
</a:t>
            </a: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Institución: </a:t>
            </a: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bajo costo que fortalece el acompañamiento entre pares y podría reducir la deserción asociada a inglés.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00200"/>
            <a:ext cx="4343400" cy="470916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7680960" y="1874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APLICADA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194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en una herramienta para formar grupos de estudio de inglés: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788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diurnos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2788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vespertinos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4297680"/>
            <a:ext cx="361188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7680960" y="448056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jornadas manifiestan una necesidad mayoritaria de contar con un canal formal de coordinación de estudio. Se aplicó además una encuesta a docentes de Inglés para validar la pertinencia de la iniciativa.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Y COMPETENCIAS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Vinculación con el Perfil de Egreso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el proyecto aplica de forma integral el idioma de la programación (inglés) y las competencias técnicas de la carrera.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023360" cy="393192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DESEMPEÑO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128016" cy="128016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097280" y="24963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evaluación de soluciones informáticas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10712"/>
            <a:ext cx="128016" cy="128016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1097280" y="3273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informáticos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187952"/>
            <a:ext cx="128016" cy="128016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1097280" y="4050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965192"/>
            <a:ext cx="128016" cy="128016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1097280" y="48280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comunicativas en inglés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1810512"/>
            <a:ext cx="6976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DEL PERFIL DE EGRESO QUE SE DESARROLLAN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33284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910328" y="2395728"/>
            <a:ext cx="365760" cy="365760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491032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331720"/>
            <a:ext cx="2459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propuestas de solución analizando de forma integral los procesos y requerimientos identificados.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57616" y="2194560"/>
            <a:ext cx="33284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558784" y="23957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558784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43416" y="2331720"/>
            <a:ext cx="2459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Sistematizar el proceso de desarrollo y mantenimiento del software para asegurar el logro de los objetivos.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776472"/>
            <a:ext cx="33284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910328" y="3977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4910328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913632"/>
            <a:ext cx="2459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 escalables que soporten los requerimientos del sistema.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57616" y="3776472"/>
            <a:ext cx="33284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558784" y="3977640"/>
            <a:ext cx="365760" cy="365760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85587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43416" y="3913632"/>
            <a:ext cx="2459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programas y rutinas con buenas prácticas de codificación y tecnologías de mercado.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5358384"/>
            <a:ext cx="33284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4910328" y="5559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 txBox="1"/>
          <p:nvPr/>
        </p:nvSpPr>
        <p:spPr>
          <a:xfrm>
            <a:off x="4910328" y="5559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5495544"/>
            <a:ext cx="2459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modelo arquitectónico de la solución conforme a estándares de la industria.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57616" y="5358384"/>
            <a:ext cx="33284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8558784" y="5559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 txBox="1"/>
          <p:nvPr/>
        </p:nvSpPr>
        <p:spPr>
          <a:xfrm>
            <a:off x="8558784" y="5559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043416" y="5495544"/>
            <a:ext cx="2459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el proyecto informático, ofreciendo alternativas para la toma de decisiones.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Y COMPETENCIAS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 Profesionales del Equipo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equipo le interesa mejorar los resultados académicos mediante el fomento del trabajo colaborativo, evidenciado en la recolección y análisis de datos a través de las encuestas aplicadas — y en desarrollar un proyecto propio que demuestre criterio profesional ante potenciales empleadores.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5440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109728" cy="2788920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 Benjamín Martínez Aguayo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Desarrollador Backend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148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le permite profundizar en gestión de proyectos informáticos, arquitectura de datos y contacto directo con usuarios y stakeholders (docente guía, estudiantes encuestados).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2880360"/>
            <a:ext cx="5440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245352" y="2880360"/>
            <a:ext cx="109728" cy="2788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611112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Javiera Paz Acuña Carrasco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3657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Desarrolladora Frontend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41148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le permite fortalecer competencias de diseño de interfaces, experiencia de usuario (UX) y facilitación de procesos ágiles dentro del equipo.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183112" cy="237744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1143000" y="1920240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una aplicación web y móvil que permita al estudiante rendir una prueba de aptitud del idioma inglés, formar grupos de estudio invitando a otros alumnos inscritos en la aplicación y coordinar instancias de estudio compartido con ellos.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4663440"/>
            <a:ext cx="3566160" cy="594360"/>
          </a:xfrm>
          <a:prstGeom prst="rect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502920" y="4663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diagnóstica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4663440"/>
            <a:ext cx="3566160" cy="594360"/>
          </a:xfrm>
          <a:prstGeom prst="rect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297680" y="4663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 grupos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4663440"/>
            <a:ext cx="3566160" cy="594360"/>
          </a:xfrm>
          <a:prstGeom prst="rect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8092440" y="4663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encuentros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7863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58952" y="1856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5895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9164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los requisitos funcionales y no funcionales del sistema.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11183112" cy="786384"/>
          </a:xfrm>
          <a:prstGeom prst="rect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58952" y="2770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75895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60604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las historias de usuario que guiarán el desarrollo incremental.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11183112" cy="7863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58952" y="3685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758952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52044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las tecnologías con las que se trabajará durante el desarrollo.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11183112" cy="786384"/>
          </a:xfrm>
          <a:prstGeom prst="rect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58952" y="45994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758952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43484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el alcance del producto mínimo viable (MVP).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349240"/>
            <a:ext cx="11183112" cy="7863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758952" y="5513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758952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34924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MVP y la documentación técnica correspondiente.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Y RIESGOS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del Proyecto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se sustenta en competencias técnicas ya adquiridas por ambos integrantes y en una planificación inicial consolidada, lo que permite un desarrollo factible dentro del plazo académico.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02152" cy="3566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tiempo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2953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(≈3 meses) de duración del semestre. La documentación previa ya avanzada permite optimizar las horas asignadas, centrándose en el desarrollo e implementación del MVP.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02152" cy="3566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617720" y="2423160"/>
            <a:ext cx="502920" cy="502920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4617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089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tecnología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11880"/>
            <a:ext cx="2953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personales del equipo y respaldo de dispositivos institucionales. Ecosistema React (web y móvil) + Node.js en backend y base de datos relacional.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3502152" cy="3566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458200" y="2423160"/>
            <a:ext cx="502920" cy="502920"/>
          </a:xfrm>
          <a:prstGeom prst="ellipse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8458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089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institucional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611880"/>
            <a:ext cx="2953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de Duoc UC y el acceso a documentación previa facilitan una transición fluida hacia el código y aceleran los tiempos de entrega.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Y RIESGOS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Estrategias de Mitigación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RIESGO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MITIGACIÓN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120640" cy="1691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tecnológicos: alguna librería del ecosistema utilizado podría quedar en desuso o requerir migración durante el desarrollo del MVP.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120640" cy="1691640"/>
          </a:xfrm>
          <a:prstGeom prst="rect">
            <a:avLst/>
          </a:prstGeom>
          <a:solidFill>
            <a:srgbClr val="233079"/>
          </a:solidFill>
          <a:ln w="12700">
            <a:solidFill>
              <a:srgbClr val="E7A9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653796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tecnologías estables (LTS) y bibliotecas con amplio soporte de la comunidad, reduciendo la probabilidad de obsolescencia durante el semestre.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120640" cy="1691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777240" y="393192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y coordinación de estudiantes encuestados para las pruebas de usuario en la Fase 3, lo que podría afectar los tiempos de retroalimentación.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931920"/>
            <a:ext cx="5120640" cy="1691640"/>
          </a:xfrm>
          <a:prstGeom prst="rect">
            <a:avLst/>
          </a:prstGeom>
          <a:solidFill>
            <a:srgbClr val="233079"/>
          </a:solidFill>
          <a:ln w="12700">
            <a:solidFill>
              <a:srgbClr val="E7A9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537960" y="393192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con anticipación, junto al docente de inglés, el acceso a estudiantes de Inglés Básico 1 y 2 dentro del cronograma de los Sprints 7–8.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Ágil con Scrum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semanas, distribuidos en 3 fases a lo largo de las 18 semanas del Portafolio de Título. Un enfoque coherente con sistematizar el desarrollo y gestionar el proyecto ofreciendo alternativas de decisión.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502152" cy="3566160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0–2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y Diseño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931920"/>
            <a:ext cx="2953512" cy="0"/>
          </a:xfrm>
          <a:prstGeom prst="line">
            <a:avLst/>
          </a:prstGeom>
          <a:noFill/>
          <a:ln w="9525">
            <a:solidFill>
              <a:srgbClr val="141B4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777240" y="406908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requerimientos, Product Backlog, arquitectura y modelo de datos, prototipado de interfaces.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502152" cy="3566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4617720" y="2331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3–6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700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546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del MVP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17720" y="3931920"/>
            <a:ext cx="2953512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4617720" y="406908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incremental: autenticación, evaluación diagnóstica, formación de grupos y coordinación de encuentros.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2103120"/>
            <a:ext cx="3502152" cy="3566160"/>
          </a:xfrm>
          <a:prstGeom prst="rect">
            <a:avLst/>
          </a:prstGeom>
          <a:solidFill>
            <a:srgbClr val="8A2E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8458200" y="2331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7–8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67004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1546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Cierre, Validación y Documentación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58200" y="3931920"/>
            <a:ext cx="2953512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458200" y="406908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estudiantes de Inglés, ajustes finales, documentación técnica e informe final.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Ceremonias y Herramientas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CEREMONIAS Y ARTEFACTOS SCRUM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58952" y="2057400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al inicio de cada sprint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249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758952" y="2587752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 adaptado a reuniones semanales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5526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758952" y="3118104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con el docente guía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856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758952" y="3648456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 de mejora continua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3159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758952" y="4178808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y Sprint Backlog en Trello / Jira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8463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758952" y="4709160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mediante Git / GitHub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69164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148840"/>
            <a:ext cx="5148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537960" y="2148840"/>
            <a:ext cx="91440" cy="1508760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6858000" y="2295144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Javiera Paz Acuña Carrasco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62432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Desarrolladora Frontend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953512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las ceremonias, da seguimiento al Sprint Backlog y desarrolla el frontend de la plataforma.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3840480"/>
            <a:ext cx="5148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537960" y="3840480"/>
            <a:ext cx="91440" cy="1508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6858000" y="3986784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 Benjamín Martínez Aguayo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31596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Desarrollador Backend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645152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Product Backlog, gestiona el contacto con stakeholders y desarrolla el backend de la plataforma.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Carta Gantt (18 semanas)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1188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9476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449072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7360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536956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5244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624840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3128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712724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012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800608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8896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888492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6780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976376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94664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1064260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82548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11521440" y="1216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70432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11704320" y="1508760"/>
            <a:ext cx="0" cy="4114800"/>
          </a:xfrm>
          <a:prstGeom prst="line">
            <a:avLst/>
          </a:prstGeom>
          <a:noFill/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502920" y="1508760"/>
            <a:ext cx="11521440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502920" y="15087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Documentación inicial (guía capstone)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4760" y="1570482"/>
            <a:ext cx="878840" cy="219456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502920" y="18516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Crear repositorio GitHub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34180" y="1913382"/>
            <a:ext cx="439420" cy="219456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502920" y="2194560"/>
            <a:ext cx="11521440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502920" y="21945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Subir documentación a GitHub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73600" y="2256282"/>
            <a:ext cx="439420" cy="219456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502920" y="25374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Presentar el proyecto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13020" y="2599182"/>
            <a:ext cx="439420" cy="219456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5461000" y="2663190"/>
            <a:ext cx="91440" cy="914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502920" y="2880360"/>
            <a:ext cx="11521440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502920" y="28803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Guía de desarrollo Capstone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52440" y="2942082"/>
            <a:ext cx="878840" cy="219456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502920" y="32232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Informe final (inicio)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31280" y="3284982"/>
            <a:ext cx="87884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502920" y="3566160"/>
            <a:ext cx="11521440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 txBox="1"/>
          <p:nvPr/>
        </p:nvSpPr>
        <p:spPr>
          <a:xfrm>
            <a:off x="502920" y="35661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Product Backlog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10120" y="3627882"/>
            <a:ext cx="43942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 txBox="1"/>
          <p:nvPr/>
        </p:nvSpPr>
        <p:spPr>
          <a:xfrm>
            <a:off x="502920" y="39090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Mockups de interfaz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49540" y="3970782"/>
            <a:ext cx="43942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502920" y="4251960"/>
            <a:ext cx="11521440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 txBox="1"/>
          <p:nvPr/>
        </p:nvSpPr>
        <p:spPr>
          <a:xfrm>
            <a:off x="502920" y="42519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Desarrollo del MVP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188960" y="4313682"/>
            <a:ext cx="1757680" cy="21945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 txBox="1"/>
          <p:nvPr/>
        </p:nvSpPr>
        <p:spPr>
          <a:xfrm>
            <a:off x="502920" y="45948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Presentar el MVP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946640" y="4656582"/>
            <a:ext cx="439420" cy="219456"/>
          </a:xfrm>
          <a:prstGeom prst="rect">
            <a:avLst/>
          </a:prstGeom>
          <a:solidFill>
            <a:srgbClr val="8A2E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10294620" y="4720590"/>
            <a:ext cx="91440" cy="914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502920" y="4937760"/>
            <a:ext cx="11521440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 txBox="1"/>
          <p:nvPr/>
        </p:nvSpPr>
        <p:spPr>
          <a:xfrm>
            <a:off x="502920" y="49377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Informe de pruebas de usuario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386060" y="4999482"/>
            <a:ext cx="878840" cy="219456"/>
          </a:xfrm>
          <a:prstGeom prst="rect">
            <a:avLst/>
          </a:prstGeom>
          <a:solidFill>
            <a:srgbClr val="8A2E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 txBox="1"/>
          <p:nvPr/>
        </p:nvSpPr>
        <p:spPr>
          <a:xfrm>
            <a:off x="502920" y="5280660"/>
            <a:ext cx="3520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Presentación final del proyecto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1264900" y="5342382"/>
            <a:ext cx="439420" cy="219456"/>
          </a:xfrm>
          <a:prstGeom prst="rect">
            <a:avLst/>
          </a:prstGeom>
          <a:solidFill>
            <a:srgbClr val="8A2E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11612880" y="5406390"/>
            <a:ext cx="91440" cy="9144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3794760" y="5852160"/>
            <a:ext cx="201168" cy="146304"/>
          </a:xfrm>
          <a:prstGeom prst="rect">
            <a:avLst/>
          </a:prstGeom>
          <a:solidFill>
            <a:srgbClr val="E7A93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 txBox="1"/>
          <p:nvPr/>
        </p:nvSpPr>
        <p:spPr>
          <a:xfrm>
            <a:off x="4087368" y="5797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Planificación y diseño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92240" y="5852160"/>
            <a:ext cx="201168" cy="1463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1" name="Text 59"/>
          <p:cNvSpPr txBox="1"/>
          <p:nvPr/>
        </p:nvSpPr>
        <p:spPr>
          <a:xfrm>
            <a:off x="6784848" y="5797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 del MVP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189720" y="5852160"/>
            <a:ext cx="201168" cy="146304"/>
          </a:xfrm>
          <a:prstGeom prst="rect">
            <a:avLst/>
          </a:prstGeom>
          <a:solidFill>
            <a:srgbClr val="8A2E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3" name="Text 61"/>
          <p:cNvSpPr txBox="1"/>
          <p:nvPr/>
        </p:nvSpPr>
        <p:spPr>
          <a:xfrm>
            <a:off x="9482328" y="5797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Cierre y validación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50292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Hitos: presentación de proyecto (S4), presentación del MVP (S15) y presentación final (S18).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REPOSITORIO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y Repositorio del Proyecto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DE AVANCE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12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(épicas e historias de usuario)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54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arquitectura y modelo de datos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E9EC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95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de interfaz (wireframes / mockups)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5352" y="1600200"/>
            <a:ext cx="5440680" cy="342900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6565392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FINALES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65392" y="2286000"/>
            <a:ext cx="384048" cy="384048"/>
          </a:xfrm>
          <a:prstGeom prst="ellipse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656539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22128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desplegado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65392" y="3127248"/>
            <a:ext cx="384048" cy="384048"/>
          </a:xfrm>
          <a:prstGeom prst="ellipse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56539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54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de usuario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65392" y="3968496"/>
            <a:ext cx="384048" cy="384048"/>
          </a:xfrm>
          <a:prstGeom prst="ellipse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 txBox="1"/>
          <p:nvPr/>
        </p:nvSpPr>
        <p:spPr>
          <a:xfrm>
            <a:off x="6565392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3895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y documentación técnica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5303520"/>
            <a:ext cx="11183112" cy="868680"/>
          </a:xfrm>
          <a:prstGeom prst="rect">
            <a:avLst/>
          </a:prstGeom>
          <a:solidFill>
            <a:srgbClr val="E9ECF6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822960" y="5413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6875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github.com/alanmartinez135/capstone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326880" y="3474720"/>
            <a:ext cx="4754880" cy="4754880"/>
          </a:xfrm>
          <a:prstGeom prst="ellipse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Y TRABAJO EN EQUIPO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031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 factible, pertinente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orientado al perfil de egreso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avanzada, planificación consolidada, roles definidos y tecnologías estables (ecosistema React) permiten al equipo enfocar el semestre en el desarrollo e implementación del MVP.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27432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50292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gracias. Quedamos atentos a sus preguntas.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897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Javiera Paz Acuña Carrasco  ·  Alan Benjamín Martínez Aguayo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1555</Words>
  <Application>Microsoft Office PowerPoint</Application>
  <PresentationFormat>Panorámica</PresentationFormat>
  <Paragraphs>215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Martinez</cp:lastModifiedBy>
  <cp:revision>2</cp:revision>
  <dcterms:created xsi:type="dcterms:W3CDTF">2026-09-02T02:23:38Z</dcterms:created>
  <dcterms:modified xsi:type="dcterms:W3CDTF">2026-09-02T03:08:59Z</dcterms:modified>
</cp:coreProperties>
</file>