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hRl3ckX/tXtDLI4zk0w/yneqlP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0:10 · Alan. Presentarnos y el proyecto en una frase: una app web y móvil para que los estudiantes de Duoc UC practiquen inglés en grupos de su mismo nivel.</a:t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0:50 · Javiera. Problema en una frase y el dato de la encuesta. Luego el estado: en el informe de avance la app funcionaba con datos simulados; hoy está conectada a una API con base de datos real y cubre las cuatro funcionalidades del MVP más la administración. Los cinco objetivos específicos están cumplidos.</a:t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1:00 · Alan y Javiera (cada uno una columna y media). Facilitadores: Expo permitió un solo código; el contrato con Zod evitó inconsistencias; Scrum y los pull requests permitieron avanzar en paralelo. Dificultades: el servidor partió después que la interfaz; algunos errores solo aparecían en el navegador; no hay presupuesto para la nube. Ajustes: construir primero la interfaz con datos simulados, convertir cada defecto en una prueba y ejecutar todo en local con Docker Compose, dejando el chat como trabajo futuro para cumplir bien lo comprometido.</a:t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0:50 · Alan. Respecto del informe de avance, las actividades que estaban en curso o atrasadas (backlog, MVP, arquitectura y modelo de datos, plan de pruebas, Docker) quedaron completadas. Hubo dos ajustes: el prototipo se hizo directo en Expo y el MVP se ejecuta en local en vez de desplegarse en la nube, por presupuesto. Hoy es la presentación del MVP y lo siguiente son las pruebas con estudiantes de inglés en S16 y S17.</a:t>
            </a:r>
            <a:endParaRPr/>
          </a:p>
        </p:txBody>
      </p:sp>
      <p:sp>
        <p:nvSpPr>
          <p:cNvPr id="78" name="Google Shape;7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0:40 · Javiera. Usamos Scrum con sprints de dos semanas. Primero construimos la interfaz con datos simulados para validar los flujos; en los sprints 5 y 6 se construyó el servidor y se conectó la app. Cada cambio entra por pull request y cumple la Definition of Done.</a:t>
            </a:r>
            <a:endParaRPr/>
          </a:p>
        </p:txBody>
      </p:sp>
      <p:sp>
        <p:nvSpPr>
          <p:cNvPr id="133" name="Google Shape;13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0:45 · Alan. Tres capas: la app nunca toca la base de datos, todo pasa por la API, que valida sesión, rol y reglas de negocio. Un solo contrato de datos con Zod lo usan la app y el servidor. La seguridad está en el servidor: contraseñas con Argon2id, tokens JWT, rol leído de la base y las respuestas correctas de los tests nunca llegan al teléfono. Todo el sistema se levanta con un comando en Docker Compose; por ser académico y sin presupuesto, corre en local.</a:t>
            </a:r>
            <a:endParaRPr/>
          </a:p>
        </p:txBody>
      </p:sp>
      <p:sp>
        <p:nvSpPr>
          <p:cNvPr id="159" name="Google Shape;15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0:35 · Javiera. Cada endpoint nació con sus pruebas: 87 automatizadas, incluidas las de seguridad y una de concurrencia. La prueba de carga con k6 simuló 100 usuarios durante 10 minutos: el 95 % de las respuestas tardó 67 ms y no hubo errores. Así se verificaron los requisitos de rendimiento y capacidad del anexo.</a:t>
            </a:r>
            <a:endParaRPr/>
          </a:p>
        </p:txBody>
      </p:sp>
      <p:sp>
        <p:nvSpPr>
          <p:cNvPr id="177" name="Google Shape;17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2:20 · Javiera maneja la app, Alan narra; ambos deben poder explicar lo que se ve. Tener abierto antes: la app (docker compose up -d --build, http://localhost:8081 o en el teléfono), una sesión de estudiante, otra de administrador y un código de grupo a mano. Orden: 1) iniciar sesión (15 s), 2) diagnóstico ya rendido con su nivel y recomendaciones (25 s), 3) unirse a un grupo con código y ver integrantes (25 s), 4) proponer un encuentro y confirmar asistencia (25 s), 5) como admin, publicar un test y mostrar que le aparece al estudiante (30 s), 6) en Ajustes cambiar a English y mostrar una pantalla traducida (15 s). Si algo falla, mostrar las capturas y seguir.</a:t>
            </a:r>
            <a:endParaRPr/>
          </a:p>
        </p:txBody>
      </p:sp>
      <p:sp>
        <p:nvSpPr>
          <p:cNvPr id="194" name="Google Shape;19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0:30 · Alan. Cerrar con el estado: el MVP está completo y probado. En la Fase 3 lo validaremos con un curso de inglés y mediremos los indicadores del Product Vision (uso del diagnóstico, grupos, tests respondidos). Agradecer y abrir preguntas.</a:t>
            </a:r>
            <a:endParaRPr/>
          </a:p>
        </p:txBody>
      </p:sp>
      <p:sp>
        <p:nvSpPr>
          <p:cNvPr id="221" name="Google Shape;22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Portada">
    <p:bg>
      <p:bgPr>
        <a:solidFill>
          <a:srgbClr val="0B2A4A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1"/>
          <p:cNvSpPr txBox="1"/>
          <p:nvPr>
            <p:ph type="title"/>
          </p:nvPr>
        </p:nvSpPr>
        <p:spPr>
          <a:xfrm>
            <a:off x="548640" y="1417320"/>
            <a:ext cx="5669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b="1" i="0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1"/>
          <p:cNvSpPr txBox="1"/>
          <p:nvPr>
            <p:ph idx="1" type="body"/>
          </p:nvPr>
        </p:nvSpPr>
        <p:spPr>
          <a:xfrm>
            <a:off x="548640" y="2743200"/>
            <a:ext cx="5669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">
  <p:cSld name="Contenido">
    <p:bg>
      <p:bgPr>
        <a:solidFill>
          <a:srgbClr val="FFFFFF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2"/>
          <p:cNvSpPr txBox="1"/>
          <p:nvPr>
            <p:ph type="title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libri"/>
              <a:buNone/>
              <a:defRPr b="1" i="0" sz="3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2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Grupo de Estudio Duoc UC · Fase 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2"/>
          <p:cNvSpPr txBox="1"/>
          <p:nvPr>
            <p:ph idx="12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idx="12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"/>
          <p:cNvSpPr txBox="1"/>
          <p:nvPr>
            <p:ph type="title"/>
          </p:nvPr>
        </p:nvSpPr>
        <p:spPr>
          <a:xfrm>
            <a:off x="548640" y="1417320"/>
            <a:ext cx="5669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chemeClr val="lt1"/>
                </a:solidFill>
              </a:rPr>
              <a:t>Grupo de Estudio Duoc UC</a:t>
            </a:r>
            <a:endParaRPr sz="4000"/>
          </a:p>
        </p:txBody>
      </p:sp>
      <p:sp>
        <p:nvSpPr>
          <p:cNvPr id="21" name="Google Shape;21;p1"/>
          <p:cNvSpPr txBox="1"/>
          <p:nvPr>
            <p:ph idx="1" type="body"/>
          </p:nvPr>
        </p:nvSpPr>
        <p:spPr>
          <a:xfrm>
            <a:off x="548640" y="2743200"/>
            <a:ext cx="5669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</a:pPr>
            <a:r>
              <a:rPr lang="en-US" sz="1600">
                <a:solidFill>
                  <a:schemeClr val="lt2"/>
                </a:solidFill>
              </a:rPr>
              <a:t>Una app para practicar inglés con compañeros de tu mismo nivel</a:t>
            </a:r>
            <a:endParaRPr sz="16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</a:pPr>
            <a:r>
              <a:rPr lang="en-US" sz="1600">
                <a:solidFill>
                  <a:schemeClr val="lt2"/>
                </a:solidFill>
              </a:rPr>
              <a:t>Alan Martínez · Javiera Acuña · Proyecto APT, Fase 2</a:t>
            </a:r>
            <a:endParaRPr sz="1600"/>
          </a:p>
        </p:txBody>
      </p:sp>
      <p:sp>
        <p:nvSpPr>
          <p:cNvPr id="22" name="Google Shape;22;p1"/>
          <p:cNvSpPr/>
          <p:nvPr/>
        </p:nvSpPr>
        <p:spPr>
          <a:xfrm>
            <a:off x="6446520" y="1234440"/>
            <a:ext cx="2194560" cy="219456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" name="Google Shape;2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5160" y="1783080"/>
            <a:ext cx="1097280" cy="1097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 txBox="1"/>
          <p:nvPr>
            <p:ph type="title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chemeClr val="dk2"/>
                </a:solidFill>
              </a:rPr>
              <a:t>El proyecto hoy: MVP terminado y conectado</a:t>
            </a:r>
            <a:endParaRPr sz="3000"/>
          </a:p>
        </p:txBody>
      </p:sp>
      <p:sp>
        <p:nvSpPr>
          <p:cNvPr id="30" name="Google Shape;30;p2"/>
          <p:cNvSpPr/>
          <p:nvPr/>
        </p:nvSpPr>
        <p:spPr>
          <a:xfrm>
            <a:off x="457200" y="1143000"/>
            <a:ext cx="3291840" cy="3337560"/>
          </a:xfrm>
          <a:prstGeom prst="roundRect">
            <a:avLst>
              <a:gd fmla="val 3333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 txBox="1"/>
          <p:nvPr/>
        </p:nvSpPr>
        <p:spPr>
          <a:xfrm>
            <a:off x="685800" y="132588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El problema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 txBox="1"/>
          <p:nvPr/>
        </p:nvSpPr>
        <p:spPr>
          <a:xfrm>
            <a:off x="685800" y="1737360"/>
            <a:ext cx="2834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malla deja de incluir Inglés Básico 1 y 2 y los estudiantes no tienen un canal para estudiar con pares de su nivel.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 txBox="1"/>
          <p:nvPr/>
        </p:nvSpPr>
        <p:spPr>
          <a:xfrm>
            <a:off x="685800" y="2926080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71 % · 77 %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685800" y="3566160"/>
            <a:ext cx="2834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 los alumnos diurnos y vespertinos quiere una herramienta para formar grupos (encuesta Fase 1)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4023360" y="114300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Estado actual: funcionando de punta a punta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023360" y="1645920"/>
            <a:ext cx="438912" cy="438912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" name="Google Shape;3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8699" y="1751259"/>
            <a:ext cx="228234" cy="228234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 txBox="1"/>
          <p:nvPr/>
        </p:nvSpPr>
        <p:spPr>
          <a:xfrm>
            <a:off x="4617720" y="1645920"/>
            <a:ext cx="4069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Diagnóstico calificado en el servidor, con nivel A1–C2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023360" y="2212848"/>
            <a:ext cx="438912" cy="438912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" name="Google Shape;4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28699" y="2318187"/>
            <a:ext cx="228234" cy="228234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"/>
          <p:cNvSpPr txBox="1"/>
          <p:nvPr/>
        </p:nvSpPr>
        <p:spPr>
          <a:xfrm>
            <a:off x="4617720" y="2212848"/>
            <a:ext cx="4069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Grupos por nivel, con código de invitación y cupo de 6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023360" y="2779776"/>
            <a:ext cx="438912" cy="438912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" name="Google Shape;4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28699" y="2885115"/>
            <a:ext cx="228234" cy="228234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"/>
          <p:cNvSpPr txBox="1"/>
          <p:nvPr/>
        </p:nvSpPr>
        <p:spPr>
          <a:xfrm>
            <a:off x="4617720" y="2779776"/>
            <a:ext cx="4069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Tests semanales según el nivel del grupo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023360" y="3346704"/>
            <a:ext cx="438912" cy="438912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" name="Google Shape;46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28699" y="3452043"/>
            <a:ext cx="228234" cy="228234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"/>
          <p:cNvSpPr txBox="1"/>
          <p:nvPr/>
        </p:nvSpPr>
        <p:spPr>
          <a:xfrm>
            <a:off x="4617720" y="3346704"/>
            <a:ext cx="4069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Coordinación de encuentros con asistencia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023360" y="3913632"/>
            <a:ext cx="438912" cy="438912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" name="Google Shape;49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28699" y="4018971"/>
            <a:ext cx="228234" cy="228234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"/>
          <p:cNvSpPr txBox="1"/>
          <p:nvPr/>
        </p:nvSpPr>
        <p:spPr>
          <a:xfrm>
            <a:off x="4617720" y="3913632"/>
            <a:ext cx="4069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Panel de administración y app en español e inglés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4023360" y="4480560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5 de 5 objetivos cumplidos · chat y recuperación de contraseña: trabajo futuro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rgbClr val="5B6B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"/>
          <p:cNvSpPr txBox="1"/>
          <p:nvPr>
            <p:ph type="title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chemeClr val="dk2"/>
                </a:solidFill>
              </a:rPr>
              <a:t>Ajustes a la propuesta</a:t>
            </a:r>
            <a:endParaRPr sz="3000"/>
          </a:p>
        </p:txBody>
      </p:sp>
      <p:sp>
        <p:nvSpPr>
          <p:cNvPr id="59" name="Google Shape;59;p3"/>
          <p:cNvSpPr/>
          <p:nvPr/>
        </p:nvSpPr>
        <p:spPr>
          <a:xfrm>
            <a:off x="457200" y="1143000"/>
            <a:ext cx="2606040" cy="3383280"/>
          </a:xfrm>
          <a:prstGeom prst="roundRect">
            <a:avLst>
              <a:gd fmla="val 4211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" name="Google Shape;6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0781" y="144658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3"/>
          <p:cNvSpPr txBox="1"/>
          <p:nvPr/>
        </p:nvSpPr>
        <p:spPr>
          <a:xfrm>
            <a:off x="1280160" y="137160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Facilitadores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 txBox="1"/>
          <p:nvPr/>
        </p:nvSpPr>
        <p:spPr>
          <a:xfrm>
            <a:off x="640080" y="2057400"/>
            <a:ext cx="22860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Expo: una sola base de código para móvil y web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Contrato de datos compartido (Zod) entre app y API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Scrum con ramas y pull requests: avance en paralelo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3246120" y="1143000"/>
            <a:ext cx="2606040" cy="3383280"/>
          </a:xfrm>
          <a:prstGeom prst="roundRect">
            <a:avLst>
              <a:gd fmla="val 4211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3429000" y="1325880"/>
            <a:ext cx="502920" cy="50292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6" name="Google Shape;6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9701" y="144658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3"/>
          <p:cNvSpPr txBox="1"/>
          <p:nvPr/>
        </p:nvSpPr>
        <p:spPr>
          <a:xfrm>
            <a:off x="4069080" y="137160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Dificultades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 txBox="1"/>
          <p:nvPr/>
        </p:nvSpPr>
        <p:spPr>
          <a:xfrm>
            <a:off x="3429000" y="2057400"/>
            <a:ext cx="22860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servidor avanzó más lento que la interfaz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Errores que solo aparecían al usar la app (CORS)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 presupuesto para un servidor en la nube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035040" y="1143000"/>
            <a:ext cx="2606040" cy="3383280"/>
          </a:xfrm>
          <a:prstGeom prst="roundRect">
            <a:avLst>
              <a:gd fmla="val 4211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217920" y="1325880"/>
            <a:ext cx="502920" cy="50292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1" name="Google Shape;7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8621" y="144658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"/>
          <p:cNvSpPr txBox="1"/>
          <p:nvPr/>
        </p:nvSpPr>
        <p:spPr>
          <a:xfrm>
            <a:off x="6858000" y="137160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Ajustes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 txBox="1"/>
          <p:nvPr/>
        </p:nvSpPr>
        <p:spPr>
          <a:xfrm>
            <a:off x="6217920" y="2057400"/>
            <a:ext cx="22860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Interfaz primero, con datos simulados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defecto corregido queda con su prueba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Ejecución local con Docker Compose; chat a trabajo futuro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rgbClr val="5B6B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/>
          <p:nvPr>
            <p:ph type="title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chemeClr val="dk2"/>
                </a:solidFill>
              </a:rPr>
              <a:t>Monitoreo del plan de trabajo</a:t>
            </a:r>
            <a:endParaRPr sz="3000"/>
          </a:p>
        </p:txBody>
      </p:sp>
      <p:sp>
        <p:nvSpPr>
          <p:cNvPr id="81" name="Google Shape;81;p4"/>
          <p:cNvSpPr txBox="1"/>
          <p:nvPr/>
        </p:nvSpPr>
        <p:spPr>
          <a:xfrm>
            <a:off x="457200" y="10972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Semana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 txBox="1"/>
          <p:nvPr/>
        </p:nvSpPr>
        <p:spPr>
          <a:xfrm>
            <a:off x="1371600" y="109728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Actividad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 txBox="1"/>
          <p:nvPr/>
        </p:nvSpPr>
        <p:spPr>
          <a:xfrm>
            <a:off x="4206240" y="109728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Estado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 txBox="1"/>
          <p:nvPr/>
        </p:nvSpPr>
        <p:spPr>
          <a:xfrm>
            <a:off x="5486400" y="10972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Observación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411480" y="1380744"/>
            <a:ext cx="8321040" cy="393192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457200" y="141732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S9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 txBox="1"/>
          <p:nvPr/>
        </p:nvSpPr>
        <p:spPr>
          <a:xfrm>
            <a:off x="1371600" y="14173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Product Backlog priorizado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206240" y="1508760"/>
            <a:ext cx="146304" cy="146304"/>
          </a:xfrm>
          <a:prstGeom prst="ellipse">
            <a:avLst/>
          </a:prstGeom>
          <a:solidFill>
            <a:srgbClr val="3FA66B"/>
          </a:solidFill>
          <a:ln cap="flat" cmpd="sng" w="12700">
            <a:solidFill>
              <a:srgbClr val="3FA6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 txBox="1"/>
          <p:nvPr/>
        </p:nvSpPr>
        <p:spPr>
          <a:xfrm>
            <a:off x="4434840" y="1417320"/>
            <a:ext cx="1051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Completada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 txBox="1"/>
          <p:nvPr/>
        </p:nvSpPr>
        <p:spPr>
          <a:xfrm>
            <a:off x="5486400" y="141732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36 historias en 9 épicas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 txBox="1"/>
          <p:nvPr/>
        </p:nvSpPr>
        <p:spPr>
          <a:xfrm>
            <a:off x="457200" y="1810512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S10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 txBox="1"/>
          <p:nvPr/>
        </p:nvSpPr>
        <p:spPr>
          <a:xfrm>
            <a:off x="1371600" y="1810512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Prototipo de interfaz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206240" y="1901952"/>
            <a:ext cx="146304" cy="146304"/>
          </a:xfrm>
          <a:prstGeom prst="ellipse">
            <a:avLst/>
          </a:prstGeom>
          <a:solidFill>
            <a:srgbClr val="3FA66B"/>
          </a:solidFill>
          <a:ln cap="flat" cmpd="sng" w="12700">
            <a:solidFill>
              <a:srgbClr val="3FA6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 txBox="1"/>
          <p:nvPr/>
        </p:nvSpPr>
        <p:spPr>
          <a:xfrm>
            <a:off x="4434840" y="1810512"/>
            <a:ext cx="1051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Completada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 txBox="1"/>
          <p:nvPr/>
        </p:nvSpPr>
        <p:spPr>
          <a:xfrm>
            <a:off x="5486400" y="181051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Ajuste: 16 pantallas en Expo en vez de Figma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11480" y="2167128"/>
            <a:ext cx="8321040" cy="393192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 txBox="1"/>
          <p:nvPr/>
        </p:nvSpPr>
        <p:spPr>
          <a:xfrm>
            <a:off x="457200" y="2203704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S11–S14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 txBox="1"/>
          <p:nvPr/>
        </p:nvSpPr>
        <p:spPr>
          <a:xfrm>
            <a:off x="1371600" y="2203704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Desarrollo del MVP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4206240" y="2295144"/>
            <a:ext cx="146304" cy="146304"/>
          </a:xfrm>
          <a:prstGeom prst="ellipse">
            <a:avLst/>
          </a:prstGeom>
          <a:solidFill>
            <a:srgbClr val="3FA66B"/>
          </a:solidFill>
          <a:ln cap="flat" cmpd="sng" w="12700">
            <a:solidFill>
              <a:srgbClr val="3FA6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 txBox="1"/>
          <p:nvPr/>
        </p:nvSpPr>
        <p:spPr>
          <a:xfrm>
            <a:off x="4434840" y="2203704"/>
            <a:ext cx="1051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Completada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 txBox="1"/>
          <p:nvPr/>
        </p:nvSpPr>
        <p:spPr>
          <a:xfrm>
            <a:off x="5486400" y="2203704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 conectada a la API y base de datos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 txBox="1"/>
          <p:nvPr/>
        </p:nvSpPr>
        <p:spPr>
          <a:xfrm>
            <a:off x="457200" y="2596896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S11–S14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/>
          <p:nvPr/>
        </p:nvSpPr>
        <p:spPr>
          <a:xfrm>
            <a:off x="1371600" y="2596896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Arquitectura, modelo de datos y UML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206240" y="2688336"/>
            <a:ext cx="146304" cy="146304"/>
          </a:xfrm>
          <a:prstGeom prst="ellipse">
            <a:avLst/>
          </a:prstGeom>
          <a:solidFill>
            <a:srgbClr val="3FA66B"/>
          </a:solidFill>
          <a:ln cap="flat" cmpd="sng" w="12700">
            <a:solidFill>
              <a:srgbClr val="3FA6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 txBox="1"/>
          <p:nvPr/>
        </p:nvSpPr>
        <p:spPr>
          <a:xfrm>
            <a:off x="4434840" y="2596896"/>
            <a:ext cx="1051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Completada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5486400" y="2596896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recuperó el atraso de la Fase 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11480" y="2953512"/>
            <a:ext cx="8321040" cy="393192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 txBox="1"/>
          <p:nvPr/>
        </p:nvSpPr>
        <p:spPr>
          <a:xfrm>
            <a:off x="457200" y="2990088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S11–S14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 txBox="1"/>
          <p:nvPr/>
        </p:nvSpPr>
        <p:spPr>
          <a:xfrm>
            <a:off x="1371600" y="2990088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Plan de pruebas por sprint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206240" y="3081528"/>
            <a:ext cx="146304" cy="146304"/>
          </a:xfrm>
          <a:prstGeom prst="ellipse">
            <a:avLst/>
          </a:prstGeom>
          <a:solidFill>
            <a:srgbClr val="3FA66B"/>
          </a:solidFill>
          <a:ln cap="flat" cmpd="sng" w="12700">
            <a:solidFill>
              <a:srgbClr val="3FA6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4434840" y="2990088"/>
            <a:ext cx="1051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Completada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5486400" y="2990088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87 pruebas y prueba de carga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457200" y="33832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S13–S14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1371600" y="338328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Docker y manual técnico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4206240" y="3474720"/>
            <a:ext cx="146304" cy="146304"/>
          </a:xfrm>
          <a:prstGeom prst="ellipse">
            <a:avLst/>
          </a:prstGeom>
          <a:solidFill>
            <a:srgbClr val="3FA66B"/>
          </a:solidFill>
          <a:ln cap="flat" cmpd="sng" w="12700">
            <a:solidFill>
              <a:srgbClr val="3FA6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4434840" y="3383280"/>
            <a:ext cx="1051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Completada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5486400" y="33832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Ajuste: ejecución local, sin nube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411480" y="3739896"/>
            <a:ext cx="8321040" cy="393192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457200" y="3776472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S15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1371600" y="3776472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Presentar el MVP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4206240" y="3867912"/>
            <a:ext cx="146304" cy="146304"/>
          </a:xfrm>
          <a:prstGeom prst="ellipse">
            <a:avLst/>
          </a:prstGeom>
          <a:solidFill>
            <a:srgbClr val="F5B700"/>
          </a:solidFill>
          <a:ln cap="flat" cmpd="sng" w="12700">
            <a:solidFill>
              <a:srgbClr val="F5B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4434840" y="3776472"/>
            <a:ext cx="1051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5486400" y="37764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 en vivo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457200" y="4169664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S16–S17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1371600" y="4169664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Pruebas con estudiantes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4206240" y="4261104"/>
            <a:ext cx="146304" cy="146304"/>
          </a:xfrm>
          <a:prstGeom prst="ellipse">
            <a:avLst/>
          </a:prstGeom>
          <a:solidFill>
            <a:srgbClr val="9AA8C2"/>
          </a:solidFill>
          <a:ln cap="flat" cmpd="sng" w="12700">
            <a:solidFill>
              <a:srgbClr val="9AA8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4434840" y="4169664"/>
            <a:ext cx="1051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Próxima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5486400" y="4169664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Coordinación con el docente de inglés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rgbClr val="5B6B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 txBox="1"/>
          <p:nvPr>
            <p:ph type="title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chemeClr val="dk2"/>
                </a:solidFill>
              </a:rPr>
              <a:t>Metodología: Scrum en sprints de dos semanas</a:t>
            </a:r>
            <a:endParaRPr sz="3000"/>
          </a:p>
        </p:txBody>
      </p:sp>
      <p:cxnSp>
        <p:nvCxnSpPr>
          <p:cNvPr id="136" name="Google Shape;136;p5"/>
          <p:cNvCxnSpPr/>
          <p:nvPr/>
        </p:nvCxnSpPr>
        <p:spPr>
          <a:xfrm>
            <a:off x="822960" y="1874520"/>
            <a:ext cx="749808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" name="Google Shape;137;p5"/>
          <p:cNvSpPr/>
          <p:nvPr/>
        </p:nvSpPr>
        <p:spPr>
          <a:xfrm>
            <a:off x="685800" y="1645920"/>
            <a:ext cx="457200" cy="457200"/>
          </a:xfrm>
          <a:prstGeom prst="ellipse">
            <a:avLst/>
          </a:prstGeom>
          <a:solidFill>
            <a:schemeClr val="dk2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457200" y="228600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Sprints 0–2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457200" y="263347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Fase 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457200" y="292608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Requisitos, encuestas, épicas y alcance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2788920" y="1645920"/>
            <a:ext cx="457200" cy="457200"/>
          </a:xfrm>
          <a:prstGeom prst="ellipse">
            <a:avLst/>
          </a:prstGeom>
          <a:solidFill>
            <a:schemeClr val="dk2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 txBox="1"/>
          <p:nvPr/>
        </p:nvSpPr>
        <p:spPr>
          <a:xfrm>
            <a:off x="2560320" y="228600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Sprints 3–4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 txBox="1"/>
          <p:nvPr/>
        </p:nvSpPr>
        <p:spPr>
          <a:xfrm>
            <a:off x="2560320" y="263347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S7–S10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 txBox="1"/>
          <p:nvPr/>
        </p:nvSpPr>
        <p:spPr>
          <a:xfrm>
            <a:off x="2560320" y="292608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 pantallas con datos simulados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4892040" y="1645920"/>
            <a:ext cx="457200" cy="457200"/>
          </a:xfrm>
          <a:prstGeom prst="ellipse">
            <a:avLst/>
          </a:prstGeom>
          <a:solidFill>
            <a:schemeClr val="accent2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 txBox="1"/>
          <p:nvPr/>
        </p:nvSpPr>
        <p:spPr>
          <a:xfrm>
            <a:off x="4663440" y="228600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Sprint 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4663440" y="263347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S11–S12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4663440" y="292608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API, autenticación y grupos conectados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6995160" y="1645920"/>
            <a:ext cx="457200" cy="457200"/>
          </a:xfrm>
          <a:prstGeom prst="ellipse">
            <a:avLst/>
          </a:prstGeom>
          <a:solidFill>
            <a:schemeClr val="accent2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6766560" y="228600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Sprint 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6766560" y="263347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S13–S14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6766560" y="292608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Evaluaciones, encuentros, admin y pruebas de carga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457200" y="3794760"/>
            <a:ext cx="8229600" cy="685800"/>
          </a:xfrm>
          <a:prstGeom prst="roundRect">
            <a:avLst>
              <a:gd fmla="val 16000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640080" y="388620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Roles: 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Alan, Product Owner y backend · Javiera, Scrum Master y frontend.   </a:t>
            </a:r>
            <a:r>
              <a:rPr b="1"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Herramientas: 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Trello, GitHub con ramas y pull requests, Definition of Done.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rgbClr val="5B6B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 txBox="1"/>
          <p:nvPr>
            <p:ph type="title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chemeClr val="dk2"/>
                </a:solidFill>
              </a:rPr>
              <a:t>Arquitectura cliente-servidor en tres capas</a:t>
            </a:r>
            <a:endParaRPr sz="3000"/>
          </a:p>
        </p:txBody>
      </p:sp>
      <p:sp>
        <p:nvSpPr>
          <p:cNvPr id="162" name="Google Shape;162;p6"/>
          <p:cNvSpPr/>
          <p:nvPr/>
        </p:nvSpPr>
        <p:spPr>
          <a:xfrm>
            <a:off x="457200" y="1188720"/>
            <a:ext cx="4206240" cy="914400"/>
          </a:xfrm>
          <a:prstGeom prst="roundRect">
            <a:avLst>
              <a:gd fmla="val 12000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 txBox="1"/>
          <p:nvPr/>
        </p:nvSpPr>
        <p:spPr>
          <a:xfrm>
            <a:off x="685800" y="129844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App Expo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 txBox="1"/>
          <p:nvPr/>
        </p:nvSpPr>
        <p:spPr>
          <a:xfrm>
            <a:off x="685800" y="164592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Android, iOS y web con una sola base de código · Expo Router · Zustand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457200" y="2286000"/>
            <a:ext cx="4206240" cy="914400"/>
          </a:xfrm>
          <a:prstGeom prst="roundRect">
            <a:avLst>
              <a:gd fmla="val 12000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 txBox="1"/>
          <p:nvPr/>
        </p:nvSpPr>
        <p:spPr>
          <a:xfrm>
            <a:off x="685800" y="239572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API REST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 txBox="1"/>
          <p:nvPr/>
        </p:nvSpPr>
        <p:spPr>
          <a:xfrm>
            <a:off x="685800" y="274320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Node.js 24 · Fastify · JWT y Argon2id · 30 endpoints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457200" y="3383280"/>
            <a:ext cx="4206240" cy="914400"/>
          </a:xfrm>
          <a:prstGeom prst="roundRect">
            <a:avLst>
              <a:gd fmla="val 12000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 txBox="1"/>
          <p:nvPr/>
        </p:nvSpPr>
        <p:spPr>
          <a:xfrm>
            <a:off x="685800" y="349300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PostgreSQL 16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 txBox="1"/>
          <p:nvPr/>
        </p:nvSpPr>
        <p:spPr>
          <a:xfrm>
            <a:off x="685800" y="384048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tablas · cupo del grupo con bloqueo de fila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 txBox="1"/>
          <p:nvPr/>
        </p:nvSpPr>
        <p:spPr>
          <a:xfrm>
            <a:off x="457200" y="443484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Contrato compartido con Zod (packages/types) · todo en Docker Compose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claude-0/-home-claude/6b671470-0072-5e90-a2bb-54eed3110768/scratchpad/diag/comp2.png" id="172" name="Google Shape;17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640" y="1097280"/>
            <a:ext cx="3577828" cy="345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6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rgbClr val="5B6B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"/>
          <p:cNvSpPr txBox="1"/>
          <p:nvPr>
            <p:ph type="title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chemeClr val="dk2"/>
                </a:solidFill>
              </a:rPr>
              <a:t>Calidad medida, no supuesta</a:t>
            </a:r>
            <a:endParaRPr sz="3000"/>
          </a:p>
        </p:txBody>
      </p:sp>
      <p:sp>
        <p:nvSpPr>
          <p:cNvPr id="180" name="Google Shape;180;p7"/>
          <p:cNvSpPr/>
          <p:nvPr/>
        </p:nvSpPr>
        <p:spPr>
          <a:xfrm>
            <a:off x="457200" y="1188720"/>
            <a:ext cx="2606040" cy="1920240"/>
          </a:xfrm>
          <a:prstGeom prst="roundRect">
            <a:avLst>
              <a:gd fmla="val 5714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 txBox="1"/>
          <p:nvPr/>
        </p:nvSpPr>
        <p:spPr>
          <a:xfrm>
            <a:off x="457200" y="1371600"/>
            <a:ext cx="2606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87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 txBox="1"/>
          <p:nvPr/>
        </p:nvSpPr>
        <p:spPr>
          <a:xfrm>
            <a:off x="685800" y="2331720"/>
            <a:ext cx="2148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pruebas automatizadas aprobadas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3246120" y="1188720"/>
            <a:ext cx="2606040" cy="1920240"/>
          </a:xfrm>
          <a:prstGeom prst="roundRect">
            <a:avLst>
              <a:gd fmla="val 5714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 txBox="1"/>
          <p:nvPr/>
        </p:nvSpPr>
        <p:spPr>
          <a:xfrm>
            <a:off x="3246120" y="1371600"/>
            <a:ext cx="2606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67 ms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 txBox="1"/>
          <p:nvPr/>
        </p:nvSpPr>
        <p:spPr>
          <a:xfrm>
            <a:off x="3474720" y="2331720"/>
            <a:ext cx="2148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p95 con </a:t>
            </a: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100 usuarios simultáneos (meta: 500 ms)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6035040" y="1188720"/>
            <a:ext cx="2606040" cy="1920240"/>
          </a:xfrm>
          <a:prstGeom prst="roundRect">
            <a:avLst>
              <a:gd fmla="val 5714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 txBox="1"/>
          <p:nvPr/>
        </p:nvSpPr>
        <p:spPr>
          <a:xfrm>
            <a:off x="6035040" y="1371600"/>
            <a:ext cx="2606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 txBox="1"/>
          <p:nvPr/>
        </p:nvSpPr>
        <p:spPr>
          <a:xfrm>
            <a:off x="6263640" y="2331720"/>
            <a:ext cx="2148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errores en 241.670 solicitudes durante 10 minutos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 txBox="1"/>
          <p:nvPr/>
        </p:nvSpPr>
        <p:spPr>
          <a:xfrm>
            <a:off x="457200" y="338328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Seguridad probada: 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401 sin sesión, 403 por rol, login que no revela cuentas, límite de 5 intentos y respuestas correctas que nunca salen del servidor.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Concurrencia: 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estudiantes a la vez por el último cupo y solo entra uno.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rgbClr val="5B6B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"/>
          <p:cNvSpPr txBox="1"/>
          <p:nvPr>
            <p:ph type="title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chemeClr val="dk2"/>
                </a:solidFill>
              </a:rPr>
              <a:t>Demo en vivo</a:t>
            </a:r>
            <a:endParaRPr sz="3000"/>
          </a:p>
        </p:txBody>
      </p:sp>
      <p:sp>
        <p:nvSpPr>
          <p:cNvPr id="197" name="Google Shape;197;p8"/>
          <p:cNvSpPr/>
          <p:nvPr/>
        </p:nvSpPr>
        <p:spPr>
          <a:xfrm>
            <a:off x="457200" y="1097280"/>
            <a:ext cx="438912" cy="438912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 txBox="1"/>
          <p:nvPr/>
        </p:nvSpPr>
        <p:spPr>
          <a:xfrm>
            <a:off x="457200" y="109728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 txBox="1"/>
          <p:nvPr/>
        </p:nvSpPr>
        <p:spPr>
          <a:xfrm>
            <a:off x="1051560" y="1097280"/>
            <a:ext cx="2926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Inicio de sesión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457200" y="1682496"/>
            <a:ext cx="438912" cy="438912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 txBox="1"/>
          <p:nvPr/>
        </p:nvSpPr>
        <p:spPr>
          <a:xfrm>
            <a:off x="457200" y="168249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 txBox="1"/>
          <p:nvPr/>
        </p:nvSpPr>
        <p:spPr>
          <a:xfrm>
            <a:off x="1051560" y="1682496"/>
            <a:ext cx="2926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Diagnóstico y resultado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457200" y="2267712"/>
            <a:ext cx="438912" cy="438912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 txBox="1"/>
          <p:nvPr/>
        </p:nvSpPr>
        <p:spPr>
          <a:xfrm>
            <a:off x="457200" y="2267712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 txBox="1"/>
          <p:nvPr/>
        </p:nvSpPr>
        <p:spPr>
          <a:xfrm>
            <a:off x="1051560" y="2267712"/>
            <a:ext cx="2926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Unirse a un grupo con código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457200" y="2852928"/>
            <a:ext cx="438912" cy="438912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 txBox="1"/>
          <p:nvPr/>
        </p:nvSpPr>
        <p:spPr>
          <a:xfrm>
            <a:off x="457200" y="2852928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 txBox="1"/>
          <p:nvPr/>
        </p:nvSpPr>
        <p:spPr>
          <a:xfrm>
            <a:off x="1051560" y="2852928"/>
            <a:ext cx="2926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Proponer un encuentro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457200" y="3438144"/>
            <a:ext cx="438912" cy="438912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 txBox="1"/>
          <p:nvPr/>
        </p:nvSpPr>
        <p:spPr>
          <a:xfrm>
            <a:off x="457200" y="343814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 txBox="1"/>
          <p:nvPr/>
        </p:nvSpPr>
        <p:spPr>
          <a:xfrm>
            <a:off x="1051560" y="3438144"/>
            <a:ext cx="2926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Admin: publicar un test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457200" y="4023360"/>
            <a:ext cx="438912" cy="438912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 txBox="1"/>
          <p:nvPr/>
        </p:nvSpPr>
        <p:spPr>
          <a:xfrm>
            <a:off x="457200" y="402336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 txBox="1"/>
          <p:nvPr/>
        </p:nvSpPr>
        <p:spPr>
          <a:xfrm>
            <a:off x="1051560" y="4023360"/>
            <a:ext cx="2926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Cambiar la app a inglés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claude-0/-home-claude/6b671470-0072-5e90-a2bb-54eed3110768/scratchpad/ppt/m26/word/media/image14.png" id="215" name="Google Shape;21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1960" y="1188720"/>
            <a:ext cx="4434840" cy="20201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tmp/claude-0/-home-claude/6b671470-0072-5e90-a2bb-54eed3110768/scratchpad/ppt/m26/word/media/image11.png" id="216" name="Google Shape;21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1960" y="3337560"/>
            <a:ext cx="2926080" cy="1341478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8"/>
          <p:cNvSpPr txBox="1"/>
          <p:nvPr>
            <p:ph idx="4294967295" type="sldNum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rgbClr val="5B6B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"/>
          <p:cNvSpPr txBox="1"/>
          <p:nvPr>
            <p:ph type="title"/>
          </p:nvPr>
        </p:nvSpPr>
        <p:spPr>
          <a:xfrm>
            <a:off x="548640" y="398417"/>
            <a:ext cx="5669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chemeClr val="lt1"/>
                </a:solidFill>
              </a:rPr>
              <a:t>MVP terminado y probado</a:t>
            </a:r>
            <a:endParaRPr sz="4000"/>
          </a:p>
        </p:txBody>
      </p:sp>
      <p:sp>
        <p:nvSpPr>
          <p:cNvPr id="224" name="Google Shape;224;p9"/>
          <p:cNvSpPr txBox="1"/>
          <p:nvPr>
            <p:ph idx="1" type="body"/>
          </p:nvPr>
        </p:nvSpPr>
        <p:spPr>
          <a:xfrm>
            <a:off x="502920" y="1783080"/>
            <a:ext cx="5669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•"/>
            </a:pPr>
            <a:r>
              <a:rPr lang="en-US" sz="1600">
                <a:solidFill>
                  <a:schemeClr val="lt2"/>
                </a:solidFill>
              </a:rPr>
              <a:t>Fase 3: piloto con estudiantes de inglés y ajustes según su retroalimentación</a:t>
            </a:r>
            <a:endParaRPr sz="1600"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Char char="•"/>
            </a:pPr>
            <a:r>
              <a:rPr lang="en-US" sz="1600">
                <a:solidFill>
                  <a:schemeClr val="lt2"/>
                </a:solidFill>
              </a:rPr>
              <a:t>Trabajo futuro: chat, recuperación de contraseña y possible despliegue en la nube con HTTPS</a:t>
            </a:r>
            <a:endParaRPr sz="16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</a:pPr>
            <a:r>
              <a:rPr b="1" lang="en-US" sz="1600">
                <a:solidFill>
                  <a:schemeClr val="accent2"/>
                </a:solidFill>
              </a:rPr>
              <a:t>github.com/alanmartinez135/grupo-de-estudio</a:t>
            </a:r>
            <a:endParaRPr sz="1600"/>
          </a:p>
        </p:txBody>
      </p:sp>
      <p:sp>
        <p:nvSpPr>
          <p:cNvPr id="225" name="Google Shape;225;p9"/>
          <p:cNvSpPr/>
          <p:nvPr/>
        </p:nvSpPr>
        <p:spPr>
          <a:xfrm>
            <a:off x="6446520" y="1234440"/>
            <a:ext cx="2194560" cy="219456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 txBox="1"/>
          <p:nvPr/>
        </p:nvSpPr>
        <p:spPr>
          <a:xfrm>
            <a:off x="6446520" y="1234440"/>
            <a:ext cx="21945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¿Preguntas?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rupo de Estudio">
  <a:themeElements>
    <a:clrScheme name="Grupo de Estudio">
      <a:dk1>
        <a:srgbClr val="1C2533"/>
      </a:dk1>
      <a:lt1>
        <a:srgbClr val="FFFFFF"/>
      </a:lt1>
      <a:dk2>
        <a:srgbClr val="0B2A4A"/>
      </a:dk2>
      <a:lt2>
        <a:srgbClr val="EAF0F7"/>
      </a:lt2>
      <a:accent1>
        <a:srgbClr val="0B2A4A"/>
      </a:accent1>
      <a:accent2>
        <a:srgbClr val="F5B700"/>
      </a:accent2>
      <a:accent3>
        <a:srgbClr val="2E5B8A"/>
      </a:accent3>
      <a:accent4>
        <a:srgbClr val="3FA66B"/>
      </a:accent4>
      <a:accent5>
        <a:srgbClr val="C0392B"/>
      </a:accent5>
      <a:accent6>
        <a:srgbClr val="5B6B85"/>
      </a:accent6>
      <a:hlink>
        <a:srgbClr val="2E5B8A"/>
      </a:hlink>
      <a:folHlink>
        <a:srgbClr val="5B6B8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2026-10-06T02:03:51Z</dcterms:created>
  <dc:creator>Alan Martínez y Javiera Acuña</dc:creator>
</cp:coreProperties>
</file>